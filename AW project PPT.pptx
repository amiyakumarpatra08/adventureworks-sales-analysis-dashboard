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sldIdLst>
    <p:sldId id="276" r:id="rId2"/>
    <p:sldId id="258" r:id="rId3"/>
    <p:sldId id="259" r:id="rId4"/>
    <p:sldId id="268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73" r:id="rId16"/>
    <p:sldId id="274" r:id="rId17"/>
    <p:sldId id="277" r:id="rId18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B551F-4466-4EC3-A722-8280507B88D6}" v="2" dt="2026-02-19T06:30:19.505"/>
    <p1510:client id="{F378EB08-021E-4DCF-8545-4167B9E51158}" v="1" dt="2026-02-19T06:02:50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Banni\pilli(AutoRecovered)%20(Recovered)%20presentation%2012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AppData\Roaming\Microsoft\Excel\pilli(AutoRecovered)%20(Recovered)%20presentation%20123%20(version%201)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Banni%20feb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Banni%20feb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Banni\pilli(AutoRecovered)%20(Recovered)%20presentatio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Banni%20feb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Banni%20feb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Banni%20feb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wnloads\Banni%20feb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Year</a:t>
            </a:r>
            <a:r>
              <a:rPr lang="en-US" b="1" baseline="0"/>
              <a:t> Sales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5"/>
              <c:pt idx="0">
                <c:v>2010</c:v>
              </c:pt>
              <c:pt idx="1">
                <c:v>2011</c:v>
              </c:pt>
              <c:pt idx="2">
                <c:v>2012</c:v>
              </c:pt>
              <c:pt idx="3">
                <c:v>2013</c:v>
              </c:pt>
              <c:pt idx="4">
                <c:v>2014</c:v>
              </c:pt>
            </c:strLit>
          </c:cat>
          <c:val>
            <c:numLit>
              <c:formatCode>[&gt;=1000000]0.0,,"M";[&gt;=1000]0.0,"K";0</c:formatCode>
              <c:ptCount val="5"/>
              <c:pt idx="0">
                <c:v>43421.03639999999</c:v>
              </c:pt>
              <c:pt idx="1">
                <c:v>7075525.9290997759</c:v>
              </c:pt>
              <c:pt idx="2">
                <c:v>5842485.1951999897</c:v>
              </c:pt>
              <c:pt idx="3">
                <c:v>16351550.340004984</c:v>
              </c:pt>
              <c:pt idx="4">
                <c:v>45694.719999999877</c:v>
              </c:pt>
            </c:numLit>
          </c:val>
          <c:extLst>
            <c:ext xmlns:c16="http://schemas.microsoft.com/office/drawing/2014/chart" uri="{C3380CC4-5D6E-409C-BE32-E72D297353CC}">
              <c16:uniqueId val="{00000000-D577-46E3-8539-7F168F7DA2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3509072"/>
        <c:axId val="153507632"/>
      </c:barChart>
      <c:catAx>
        <c:axId val="1535090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507632"/>
        <c:crosses val="autoZero"/>
        <c:auto val="1"/>
        <c:lblAlgn val="ctr"/>
        <c:lblOffset val="100"/>
        <c:noMultiLvlLbl val="0"/>
        <c:extLst/>
      </c:catAx>
      <c:valAx>
        <c:axId val="153507632"/>
        <c:scaling>
          <c:orientation val="minMax"/>
        </c:scaling>
        <c:delete val="1"/>
        <c:axPos val="l"/>
        <c:numFmt formatCode="[&gt;=1000000]0.0,,&quot;M&quot;;[&gt;=1000]0.0,&quot;K&quot;;0" sourceLinked="0"/>
        <c:majorTickMark val="out"/>
        <c:minorTickMark val="none"/>
        <c:tickLblPos val="nextTo"/>
        <c:crossAx val="153509072"/>
        <c:crosses val="autoZero"/>
        <c:crossBetween val="between"/>
        <c:extLst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8871391076115485E-2"/>
          <c:y val="0.28506116947122856"/>
          <c:w val="0.94225721784776906"/>
          <c:h val="0.51670601544932837"/>
        </c:manualLayout>
      </c:layout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2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[&gt;=1000000]0.0,,"M";[&gt;=1000]0.0,"K";0</c:formatCode>
              <c:ptCount val="12"/>
              <c:pt idx="0">
                <c:v>1868572.6708999886</c:v>
              </c:pt>
              <c:pt idx="1">
                <c:v>1744677.8305999781</c:v>
              </c:pt>
              <c:pt idx="2">
                <c:v>1908589.0547999688</c:v>
              </c:pt>
              <c:pt idx="3">
                <c:v>1948432.2302999671</c:v>
              </c:pt>
              <c:pt idx="4">
                <c:v>2205152.2964999732</c:v>
              </c:pt>
              <c:pt idx="5">
                <c:v>2936177.7441999842</c:v>
              </c:pt>
              <c:pt idx="6">
                <c:v>2412980.5948999757</c:v>
              </c:pt>
              <c:pt idx="7">
                <c:v>2689540.8764999793</c:v>
              </c:pt>
              <c:pt idx="8">
                <c:v>2536756.6377999815</c:v>
              </c:pt>
              <c:pt idx="9">
                <c:v>2916660.8978000036</c:v>
              </c:pt>
              <c:pt idx="10">
                <c:v>2979421.3901999998</c:v>
              </c:pt>
              <c:pt idx="11">
                <c:v>3211714.9962000102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651-4B8A-9380-103EAF7A048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29585760"/>
        <c:axId val="932065248"/>
      </c:lineChart>
      <c:catAx>
        <c:axId val="2129585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932065248"/>
        <c:crosses val="autoZero"/>
        <c:auto val="1"/>
        <c:lblAlgn val="ctr"/>
        <c:lblOffset val="100"/>
        <c:noMultiLvlLbl val="0"/>
        <c:extLst/>
      </c:catAx>
      <c:valAx>
        <c:axId val="932065248"/>
        <c:scaling>
          <c:orientation val="minMax"/>
        </c:scaling>
        <c:delete val="1"/>
        <c:axPos val="l"/>
        <c:numFmt formatCode="[&gt;=1000000]0.0,,&quot;M&quot;;[&gt;=1000]0.0,&quot;K&quot;;0" sourceLinked="1"/>
        <c:majorTickMark val="none"/>
        <c:minorTickMark val="none"/>
        <c:tickLblPos val="nextTo"/>
        <c:crossAx val="2129585760"/>
        <c:crosses val="autoZero"/>
        <c:crossBetween val="between"/>
        <c:extLst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b="1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Catagory</a:t>
            </a:r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3"/>
              <c:pt idx="0">
                <c:v>Accessories</c:v>
              </c:pt>
              <c:pt idx="1">
                <c:v>Bikes</c:v>
              </c:pt>
              <c:pt idx="2">
                <c:v>Clothing</c:v>
              </c:pt>
            </c:strLit>
          </c:cat>
          <c:val>
            <c:numLit>
              <c:formatCode>[&gt;=1000000]0.0,,"M";[&gt;=1000]0.0,"K";0</c:formatCode>
              <c:ptCount val="3"/>
              <c:pt idx="0">
                <c:v>700759.95999977679</c:v>
              </c:pt>
              <c:pt idx="1">
                <c:v>28318144.650700606</c:v>
              </c:pt>
              <c:pt idx="2">
                <c:v>339772.60999995808</c:v>
              </c:pt>
            </c:numLit>
          </c:val>
          <c:extLst>
            <c:ext xmlns:c16="http://schemas.microsoft.com/office/drawing/2014/chart" uri="{C3380CC4-5D6E-409C-BE32-E72D297353CC}">
              <c16:uniqueId val="{00000000-CB88-4C4F-9129-1E1DE850DF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52992064"/>
        <c:axId val="652993504"/>
      </c:barChart>
      <c:catAx>
        <c:axId val="65299206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652993504"/>
        <c:crosses val="autoZero"/>
        <c:auto val="1"/>
        <c:lblAlgn val="ctr"/>
        <c:lblOffset val="100"/>
        <c:noMultiLvlLbl val="0"/>
        <c:extLst/>
      </c:catAx>
      <c:valAx>
        <c:axId val="652993504"/>
        <c:scaling>
          <c:orientation val="minMax"/>
        </c:scaling>
        <c:delete val="1"/>
        <c:axPos val="l"/>
        <c:numFmt formatCode="[&gt;=1000000]0.0,,&quot;M&quot;;[&gt;=1000]0.0,&quot;K&quot;;0" sourceLinked="0"/>
        <c:majorTickMark val="none"/>
        <c:minorTickMark val="none"/>
        <c:tickLblPos val="nextTo"/>
        <c:crossAx val="652992064"/>
        <c:crosses val="autoZero"/>
        <c:crossBetween val="between"/>
        <c:extLst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/>
              <a:t>Top 5 Product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1183027121609797"/>
          <c:y val="0.16780110819480898"/>
          <c:w val="0.68816972878390203"/>
          <c:h val="0.78590259550889474"/>
        </c:manualLayout>
      </c:layout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5"/>
              <c:pt idx="0">
                <c:v>Mountain-200 Black, 38</c:v>
              </c:pt>
              <c:pt idx="1">
                <c:v>Mountain-200 Silver, 46</c:v>
              </c:pt>
              <c:pt idx="2">
                <c:v>Mountain-200 Silver, 38</c:v>
              </c:pt>
              <c:pt idx="3">
                <c:v>Mountain-200 Black, 42</c:v>
              </c:pt>
              <c:pt idx="4">
                <c:v>Mountain-200 Black, 46</c:v>
              </c:pt>
            </c:strLit>
          </c:cat>
          <c:val>
            <c:numLit>
              <c:formatCode>[&gt;=1000000]0.0,,"M";[&gt;=1000]0.0,"K";0</c:formatCode>
              <c:ptCount val="5"/>
              <c:pt idx="0">
                <c:v>1294866.1411999841</c:v>
              </c:pt>
              <c:pt idx="1">
                <c:v>1301100.098399987</c:v>
              </c:pt>
              <c:pt idx="2">
                <c:v>1339462.7903999845</c:v>
              </c:pt>
              <c:pt idx="3">
                <c:v>1363142.0933999803</c:v>
              </c:pt>
              <c:pt idx="4">
                <c:v>1373469.5481999798</c:v>
              </c:pt>
            </c:numLit>
          </c:val>
          <c:extLst>
            <c:ext xmlns:c16="http://schemas.microsoft.com/office/drawing/2014/chart" uri="{C3380CC4-5D6E-409C-BE32-E72D297353CC}">
              <c16:uniqueId val="{00000000-B7BF-457A-9918-F3FCA9CE20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036215519"/>
        <c:axId val="2036215999"/>
      </c:barChart>
      <c:catAx>
        <c:axId val="2036215519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036215999"/>
        <c:crosses val="autoZero"/>
        <c:auto val="1"/>
        <c:lblAlgn val="ctr"/>
        <c:lblOffset val="100"/>
        <c:noMultiLvlLbl val="0"/>
        <c:extLst/>
      </c:catAx>
      <c:valAx>
        <c:axId val="2036215999"/>
        <c:scaling>
          <c:orientation val="minMax"/>
        </c:scaling>
        <c:delete val="1"/>
        <c:axPos val="b"/>
        <c:numFmt formatCode="[&gt;=1000000]0.0,,&quot;M&quot;;[&gt;=1000]0.0,&quot;K&quot;;0" sourceLinked="0"/>
        <c:majorTickMark val="out"/>
        <c:minorTickMark val="none"/>
        <c:tickLblPos val="nextTo"/>
        <c:crossAx val="2036215519"/>
        <c:crosses val="autoZero"/>
        <c:crossBetween val="between"/>
        <c:extLst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1" i="0" u="none" strike="noStrike" kern="1200" baseline="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  <c:extLst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[pilli(AutoRecovered) (Recovered) presentation.xlsx]PivotChartTable10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/>
              <a:t>Top 5 Customer</a:t>
            </a:r>
          </a:p>
        </c:rich>
      </c:tx>
      <c:layout>
        <c:manualLayout>
          <c:xMode val="edge"/>
          <c:yMode val="edge"/>
          <c:x val="0.3830277777777777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8266360454943135"/>
          <c:y val="0.21409740449110529"/>
          <c:w val="0.6728919510061242"/>
          <c:h val="0.78590259550889474"/>
        </c:manualLayout>
      </c:layout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5"/>
              <c:pt idx="0">
                <c:v>Miss. Nichole   Nara</c:v>
              </c:pt>
              <c:pt idx="1">
                <c:v>Miss. Kaitlyn J Henderson</c:v>
              </c:pt>
              <c:pt idx="2">
                <c:v>Miss. Margaret   He</c:v>
              </c:pt>
              <c:pt idx="3">
                <c:v>Mr. Randall M Dominguez</c:v>
              </c:pt>
              <c:pt idx="4">
                <c:v>Miss. Adriana L Gonzalez</c:v>
              </c:pt>
            </c:strLit>
          </c:cat>
          <c:val>
            <c:numLit>
              <c:formatCode>[&gt;=1000000]0.0,,"M";[&gt;=1000]0.0,"K";0</c:formatCode>
              <c:ptCount val="5"/>
              <c:pt idx="0">
                <c:v>13295.380000000001</c:v>
              </c:pt>
              <c:pt idx="1">
                <c:v>13294.269999999999</c:v>
              </c:pt>
              <c:pt idx="2">
                <c:v>13269.269999999999</c:v>
              </c:pt>
              <c:pt idx="3">
                <c:v>13265.989999999998</c:v>
              </c:pt>
              <c:pt idx="4">
                <c:v>13242.699999999999</c:v>
              </c:pt>
            </c:numLit>
          </c:val>
          <c:extLst>
            <c:ext xmlns:c16="http://schemas.microsoft.com/office/drawing/2014/chart" uri="{C3380CC4-5D6E-409C-BE32-E72D297353CC}">
              <c16:uniqueId val="{00000000-36F7-4CF1-B7EF-5EB7948D5C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755584127"/>
        <c:axId val="755583647"/>
      </c:barChart>
      <c:catAx>
        <c:axId val="7555841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55583647"/>
        <c:crosses val="autoZero"/>
        <c:auto val="1"/>
        <c:lblAlgn val="ctr"/>
        <c:lblOffset val="100"/>
        <c:noMultiLvlLbl val="0"/>
        <c:extLst/>
      </c:catAx>
      <c:valAx>
        <c:axId val="755583647"/>
        <c:scaling>
          <c:orientation val="minMax"/>
        </c:scaling>
        <c:delete val="1"/>
        <c:axPos val="b"/>
        <c:numFmt formatCode="[&gt;=1000000]0.0,,&quot;M&quot;;[&gt;=1000]0.0,&quot;K&quot;;0" sourceLinked="1"/>
        <c:majorTickMark val="none"/>
        <c:minorTickMark val="none"/>
        <c:tickLblPos val="nextTo"/>
        <c:crossAx val="755584127"/>
        <c:crosses val="autoZero"/>
        <c:crossBetween val="between"/>
        <c:extLst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Profession</a:t>
            </a:r>
            <a:r>
              <a:rPr lang="en-IN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wise Sales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6011349121074546E-2"/>
          <c:y val="0.14003035765107674"/>
          <c:w val="0.92769645138116863"/>
          <c:h val="0.65854330708661413"/>
        </c:manualLayout>
      </c:layout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5"/>
              <c:pt idx="0">
                <c:v>Clerical</c:v>
              </c:pt>
              <c:pt idx="1">
                <c:v>Management</c:v>
              </c:pt>
              <c:pt idx="2">
                <c:v>Manual</c:v>
              </c:pt>
              <c:pt idx="3">
                <c:v>Professional</c:v>
              </c:pt>
              <c:pt idx="4">
                <c:v>Skilled Manual</c:v>
              </c:pt>
            </c:strLit>
          </c:cat>
          <c:val>
            <c:numLit>
              <c:formatCode>[&gt;=1000000]0.0,,"M";[&gt;=1000]0.0,"K";0</c:formatCode>
              <c:ptCount val="5"/>
              <c:pt idx="0">
                <c:v>4684786.6430001836</c:v>
              </c:pt>
              <c:pt idx="1">
                <c:v>5467861.5445004795</c:v>
              </c:pt>
              <c:pt idx="2">
                <c:v>2857970.8931999686</c:v>
              </c:pt>
              <c:pt idx="3">
                <c:v>9907977.2811017167</c:v>
              </c:pt>
              <c:pt idx="4">
                <c:v>6440080.8589007528</c:v>
              </c:pt>
            </c:numLit>
          </c:val>
          <c:extLst>
            <c:ext xmlns:c16="http://schemas.microsoft.com/office/drawing/2014/chart" uri="{C3380CC4-5D6E-409C-BE32-E72D297353CC}">
              <c16:uniqueId val="{00000000-586A-4635-999A-4FDC9CB3BAA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6696863"/>
        <c:axId val="416694463"/>
      </c:barChart>
      <c:catAx>
        <c:axId val="41669686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416694463"/>
        <c:crosses val="autoZero"/>
        <c:auto val="1"/>
        <c:lblAlgn val="ctr"/>
        <c:lblOffset val="100"/>
        <c:noMultiLvlLbl val="0"/>
        <c:extLst/>
      </c:catAx>
      <c:valAx>
        <c:axId val="416694463"/>
        <c:scaling>
          <c:orientation val="minMax"/>
        </c:scaling>
        <c:delete val="1"/>
        <c:axPos val="l"/>
        <c:numFmt formatCode="[&gt;=1000000]0.0,,&quot;M&quot;;[&gt;=1000]0.0,&quot;K&quot;;0" sourceLinked="0"/>
        <c:majorTickMark val="none"/>
        <c:minorTickMark val="none"/>
        <c:tickLblPos val="nextTo"/>
        <c:crossAx val="416696863"/>
        <c:crosses val="autoZero"/>
        <c:crossBetween val="between"/>
        <c:extLst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Gender wise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Male</a:t>
                </a:r>
              </a:p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045C55E8-6C38-498E-9E3A-815943F18EA5}" type="VALUE">
                  <a:rPr lang="en-US" b="1"/>
                  <a:pPr>
                    <a:defRPr lang="en-US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0.12677502210619396"/>
              <c:y val="8.0360828682822412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Female</a:t>
                </a:r>
              </a:p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4E8ED914-03D0-4C01-9BC0-01B134A7A313}" type="VALUE">
                  <a:rPr lang="en-US" b="1"/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0.12677502210619396"/>
              <c:y val="8.0360828682822412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Female</a:t>
                </a:r>
              </a:p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4E8ED914-03D0-4C01-9BC0-01B134A7A313}" type="VALUE">
                  <a:rPr lang="en-US" b="1"/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Male</a:t>
                </a:r>
              </a:p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045C55E8-6C38-498E-9E3A-815943F18EA5}" type="VALUE">
                  <a:rPr lang="en-US" b="1"/>
                  <a:pPr>
                    <a:defRPr lang="en-US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dLbl>
          <c:idx val="0"/>
          <c:layout>
            <c:manualLayout>
              <c:x val="-0.12677502210619396"/>
              <c:y val="8.0360828682822412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Female</a:t>
                </a:r>
              </a:p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4E8ED914-03D0-4C01-9BC0-01B134A7A313}" type="VALUE">
                  <a:rPr lang="en-US" b="1"/>
                  <a:pPr>
                    <a:defRPr lang="en-US" sz="1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Male</a:t>
                </a:r>
              </a:p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045C55E8-6C38-498E-9E3A-815943F18EA5}" type="VALUE">
                  <a:rPr lang="en-US" b="1"/>
                  <a:pPr>
                    <a:defRPr lang="en-US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plotArea>
      <c:layout/>
      <c:pieChart>
        <c:varyColors val="1"/>
        <c:ser>
          <c:idx val="0"/>
          <c:order val="0"/>
          <c:tx>
            <c:v>Total</c:v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60-4EEC-9109-F2718B78C0DA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60-4EEC-9109-F2718B78C0DA}"/>
              </c:ext>
            </c:extLst>
          </c:dPt>
          <c:dLbls>
            <c:dLbl>
              <c:idx val="0"/>
              <c:layout>
                <c:manualLayout>
                  <c:x val="-0.12677502210619396"/>
                  <c:y val="8.0360828682822412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Female</a:t>
                    </a:r>
                  </a:p>
                  <a:p>
                    <a:fld id="{4E8ED914-03D0-4C01-9BC0-01B134A7A313}" type="VALUE">
                      <a:rPr lang="en-US"/>
                      <a:pPr/>
                      <a:t>[VALUE]</a:t>
                    </a:fld>
                    <a:endParaRPr lang="en-IN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360-4EEC-9109-F2718B78C0D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/>
                      <a:t>Male</a:t>
                    </a:r>
                  </a:p>
                  <a:p>
                    <a:fld id="{045C55E8-6C38-498E-9E3A-815943F18EA5}" type="VALUE">
                      <a:rPr lang="en-US" b="1"/>
                      <a:pPr/>
                      <a:t>[VALUE]</a:t>
                    </a:fld>
                    <a:endParaRPr lang="en-IN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360-4EEC-9109-F2718B78C0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F</c:v>
              </c:pt>
              <c:pt idx="1">
                <c:v>M</c:v>
              </c:pt>
            </c:strLit>
          </c:cat>
          <c:val>
            <c:numLit>
              <c:formatCode>[&gt;=1000000]0.0,,"M";[&gt;=1000]0.0,"K";0</c:formatCode>
              <c:ptCount val="2"/>
              <c:pt idx="0">
                <c:v>14813618.675203761</c:v>
              </c:pt>
              <c:pt idx="1">
                <c:v>14545058.545503844</c:v>
              </c:pt>
            </c:numLit>
          </c:val>
          <c:extLst>
            <c:ext xmlns:c16="http://schemas.microsoft.com/office/drawing/2014/chart" uri="{C3380CC4-5D6E-409C-BE32-E72D297353CC}">
              <c16:uniqueId val="{00000004-B360-4EEC-9109-F2718B78C0D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Terrtory</a:t>
            </a:r>
            <a:r>
              <a:rPr lang="en-US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Wise Sales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Pacific</a:t>
                </a:r>
              </a:p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6FB9DC5C-1967-4BF9-89F5-66616937A6F8}" type="VALU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Europe</a:t>
                </a:r>
              </a:p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02A2438-9649-4C1B-B6E9-EDB845DD8253}" type="VALU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North America</a:t>
                </a:r>
              </a:p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3F5E7A6-B18A-49AB-A252-E681F5A92423}" type="VALU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Europe</a:t>
                </a:r>
              </a:p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02A2438-9649-4C1B-B6E9-EDB845DD8253}" type="VALU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North America</a:t>
                </a:r>
              </a:p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3F5E7A6-B18A-49AB-A252-E681F5A92423}" type="VALU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Pacific</a:t>
                </a:r>
              </a:p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6FB9DC5C-1967-4BF9-89F5-66616937A6F8}" type="VALU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Europe</a:t>
                </a:r>
              </a:p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02A2438-9649-4C1B-B6E9-EDB845DD8253}" type="VALU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North America</a:t>
                </a:r>
              </a:p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13F5E7A6-B18A-49AB-A252-E681F5A92423}" type="VALU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Pacific</a:t>
                </a:r>
              </a:p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6FB9DC5C-1967-4BF9-89F5-66616937A6F8}" type="VALU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IN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plotArea>
      <c:layout/>
      <c:doughnutChart>
        <c:varyColors val="1"/>
        <c:ser>
          <c:idx val="0"/>
          <c:order val="0"/>
          <c:tx>
            <c:v>Total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677-4E90-AA8E-55136BF9A26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677-4E90-AA8E-55136BF9A26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677-4E90-AA8E-55136BF9A26F}"/>
              </c:ext>
            </c:extLst>
          </c:dPt>
          <c:dLbls>
            <c:dLbl>
              <c:idx val="0"/>
              <c:layout>
                <c:manualLayout>
                  <c:x val="8.7824351297405193E-2"/>
                  <c:y val="-8.9326564119190502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Europe</a:t>
                    </a:r>
                  </a:p>
                  <a:p>
                    <a:fld id="{002A2438-9649-4C1B-B6E9-EDB845DD8253}" type="VALUE">
                      <a:rPr lang="en-US"/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677-4E90-AA8E-55136BF9A26F}"/>
                </c:ext>
              </c:extLst>
            </c:dLbl>
            <c:dLbl>
              <c:idx val="1"/>
              <c:layout>
                <c:manualLayout>
                  <c:x val="-0.23419827012641384"/>
                  <c:y val="5.1043918391626149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North America</a:t>
                    </a:r>
                  </a:p>
                  <a:p>
                    <a:fld id="{13F5E7A6-B18A-49AB-A252-E681F5A92423}" type="VALUE">
                      <a:rPr lang="en-US"/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7073862773141381"/>
                      <c:h val="0.2182120352054510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677-4E90-AA8E-55136BF9A26F}"/>
                </c:ext>
              </c:extLst>
            </c:dLbl>
            <c:dLbl>
              <c:idx val="2"/>
              <c:layout>
                <c:manualLayout>
                  <c:x val="-0.11177644710578842"/>
                  <c:y val="-5.5297396835689364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Pacific</a:t>
                    </a:r>
                  </a:p>
                  <a:p>
                    <a:fld id="{6FB9DC5C-1967-4BF9-89F5-66616937A6F8}" type="VALUE">
                      <a:rPr lang="en-US"/>
                      <a:pPr/>
                      <a:t>[VALUE]</a:t>
                    </a:fld>
                    <a:endParaRPr lang="en-IN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677-4E90-AA8E-55136BF9A2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3"/>
              <c:pt idx="0">
                <c:v>Europe</c:v>
              </c:pt>
              <c:pt idx="1">
                <c:v>North America</c:v>
              </c:pt>
              <c:pt idx="2">
                <c:v>Pacific</c:v>
              </c:pt>
            </c:strLit>
          </c:cat>
          <c:val>
            <c:numLit>
              <c:formatCode>[&gt;=1000000]0.0,,"M";[&gt;=1000]0.0,"K";0</c:formatCode>
              <c:ptCount val="3"/>
              <c:pt idx="0">
                <c:v>8930042.2634016406</c:v>
              </c:pt>
              <c:pt idx="1">
                <c:v>11367634.372903073</c:v>
              </c:pt>
              <c:pt idx="2">
                <c:v>9061000.584400706</c:v>
              </c:pt>
            </c:numLit>
          </c:val>
          <c:extLst>
            <c:ext xmlns:c16="http://schemas.microsoft.com/office/drawing/2014/chart" uri="{C3380CC4-5D6E-409C-BE32-E72D297353CC}">
              <c16:uniqueId val="{00000006-9677-4E90-AA8E-55136BF9A2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solidFill>
                  <a:schemeClr val="tx1"/>
                </a:solidFill>
              </a:rPr>
              <a:t>Countrry Wise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5.0420168067226892E-2"/>
          <c:y val="0.20432038834951458"/>
          <c:w val="0.93837535014005602"/>
          <c:h val="0.65401307239507678"/>
        </c:manualLayout>
      </c:layout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6"/>
              <c:pt idx="0">
                <c:v>Australia</c:v>
              </c:pt>
              <c:pt idx="1">
                <c:v>Canada</c:v>
              </c:pt>
              <c:pt idx="2">
                <c:v>France</c:v>
              </c:pt>
              <c:pt idx="3">
                <c:v>Germany</c:v>
              </c:pt>
              <c:pt idx="4">
                <c:v>United Kingdom</c:v>
              </c:pt>
              <c:pt idx="5">
                <c:v>United States</c:v>
              </c:pt>
            </c:strLit>
          </c:cat>
          <c:val>
            <c:numLit>
              <c:formatCode>[&gt;=1000000]0.0,,"M";[&gt;=1000]0.0,"K";0</c:formatCode>
              <c:ptCount val="6"/>
              <c:pt idx="0">
                <c:v>9061000.584400706</c:v>
              </c:pt>
              <c:pt idx="1">
                <c:v>1977844.8620999516</c:v>
              </c:pt>
              <c:pt idx="2">
                <c:v>2644017.7142999787</c:v>
              </c:pt>
              <c:pt idx="3">
                <c:v>2894312.3381999917</c:v>
              </c:pt>
              <c:pt idx="4">
                <c:v>3391712.2109000213</c:v>
              </c:pt>
              <c:pt idx="5">
                <c:v>9389789.5108019132</c:v>
              </c:pt>
            </c:numLit>
          </c:val>
          <c:extLst>
            <c:ext xmlns:c16="http://schemas.microsoft.com/office/drawing/2014/chart" uri="{C3380CC4-5D6E-409C-BE32-E72D297353CC}">
              <c16:uniqueId val="{00000000-08C9-4065-9EFD-51E2973C0F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16686783"/>
        <c:axId val="416701183"/>
      </c:barChart>
      <c:catAx>
        <c:axId val="41668678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416701183"/>
        <c:crosses val="autoZero"/>
        <c:auto val="1"/>
        <c:lblAlgn val="ctr"/>
        <c:lblOffset val="100"/>
        <c:noMultiLvlLbl val="0"/>
        <c:extLst/>
      </c:catAx>
      <c:valAx>
        <c:axId val="416701183"/>
        <c:scaling>
          <c:orientation val="minMax"/>
        </c:scaling>
        <c:delete val="1"/>
        <c:axPos val="l"/>
        <c:numFmt formatCode="[&gt;=1000000]0.0,,&quot;M&quot;;[&gt;=1000]0.0,&quot;K&quot;;0" sourceLinked="0"/>
        <c:majorTickMark val="none"/>
        <c:minorTickMark val="none"/>
        <c:tickLblPos val="nextTo"/>
        <c:crossAx val="416686783"/>
        <c:crosses val="autoZero"/>
        <c:crossBetween val="between"/>
        <c:extLst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Droplets-HD-Title-R1d.png">
            <a:extLst>
              <a:ext uri="{FF2B5EF4-FFF2-40B4-BE49-F238E27FC236}">
                <a16:creationId xmlns:a16="http://schemas.microsoft.com/office/drawing/2014/main" id="{BC438F73-057B-318F-3DE8-3298DBC51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/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087FA8-B2F0-E211-7988-806F1BA91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CC07D4-3ADF-4706-B6A1-072C9935D970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186453-3171-5B19-F749-31474CE7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1ADE13-D96D-249B-1C09-B3F5F7B8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EBE91-6D14-4170-8C01-D0B99ED1FD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18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roplets-HD-Content-R1d.png">
            <a:extLst>
              <a:ext uri="{FF2B5EF4-FFF2-40B4-BE49-F238E27FC236}">
                <a16:creationId xmlns:a16="http://schemas.microsoft.com/office/drawing/2014/main" id="{2430C149-EC9C-7A16-0A03-8DD5A49A9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CDA0F-04F6-40E4-2EC0-223C8705D3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4D446-6E23-422B-B1D5-1341D5395077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11908-A208-BAA1-546C-E8CFAB0235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5149A-3B1F-20A8-105F-CFCECBAA1D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40EE6-28E4-478D-95AD-DAC2A11F4B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46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Droplets-HD-Content-R1d.png">
            <a:extLst>
              <a:ext uri="{FF2B5EF4-FFF2-40B4-BE49-F238E27FC236}">
                <a16:creationId xmlns:a16="http://schemas.microsoft.com/office/drawing/2014/main" id="{CF7C0E66-2BD8-A543-00B9-4BC25E071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16ED9AA-BD6F-9102-3A27-5697B3923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96428-9204-4B11-8B17-30F59676B582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C78B6A-45EC-F3D6-FCC2-308C8C86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77617FF-7408-BFCD-B3EE-2DEE9097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2DCAE-CF28-4C64-B337-9262959B9B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996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Droplets-HD-Content-R1d.png">
            <a:extLst>
              <a:ext uri="{FF2B5EF4-FFF2-40B4-BE49-F238E27FC236}">
                <a16:creationId xmlns:a16="http://schemas.microsoft.com/office/drawing/2014/main" id="{05C4367F-AFB7-0D32-243B-F57F82AC9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C7A49BE-1FDE-D028-8C46-4CA6542512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40F66-F41E-46DB-AEF1-01A540801CF4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22E3D06C-C67F-B845-1D2C-2C265A41D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CD09C599-1E05-FA15-8927-BE07D6CA7D0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FD095-7FCB-4182-B5A9-6DE3E3A0220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052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Droplets-HD-Content-R1d.png">
            <a:extLst>
              <a:ext uri="{FF2B5EF4-FFF2-40B4-BE49-F238E27FC236}">
                <a16:creationId xmlns:a16="http://schemas.microsoft.com/office/drawing/2014/main" id="{8EFC6C2C-D511-31B8-F17B-82DE7BECF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63795546-A533-E68B-FDC8-BBA74ECB83E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D7AC4-6139-4539-80EE-EE41C54A8DB6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72E1D14-0D63-867F-DB1A-0C4AB402717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0462418D-DF2D-4DE4-8868-8E6DD18DE59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AAAC5-ABD6-4045-8DB6-CCAB8B288E0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39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roplets-HD-Content-R1d.png">
            <a:extLst>
              <a:ext uri="{FF2B5EF4-FFF2-40B4-BE49-F238E27FC236}">
                <a16:creationId xmlns:a16="http://schemas.microsoft.com/office/drawing/2014/main" id="{D08C6E6C-B4B1-E2AD-517D-11C0D610F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1BD438BC-C7AE-1980-D5E0-EACAD4FA0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EFC12-A68F-4F3D-933E-528C6958D008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DD83A0E-AD3A-F202-9140-4152C8389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A82C92F-B4BA-6C8B-A7A6-45A419BA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F36E2-EC2D-4A80-9EA3-0FEE7597EE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27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Droplets-HD-Content-R1d.png">
            <a:extLst>
              <a:ext uri="{FF2B5EF4-FFF2-40B4-BE49-F238E27FC236}">
                <a16:creationId xmlns:a16="http://schemas.microsoft.com/office/drawing/2014/main" id="{8C529578-3B59-05F5-C89E-F45AB96C4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5D9B5DD3-171A-B5E8-FF64-9B6115BE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6106F-39A9-4F26-A8D6-410B585D3CAA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068BA3F-2FEE-68E9-600F-9FDBB3B81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4AAAA3E-24B5-7B47-00E1-91DF1AD16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43AEC3-C52F-436E-9259-A9BFDA8906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332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roplets-HD-Content-R1d.png">
            <a:extLst>
              <a:ext uri="{FF2B5EF4-FFF2-40B4-BE49-F238E27FC236}">
                <a16:creationId xmlns:a16="http://schemas.microsoft.com/office/drawing/2014/main" id="{33AF0B9C-DE02-E748-B458-765DFAB69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C2B46-B278-C826-4201-0102B2E5450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47B8B-1FB9-493F-B274-593826BBCC71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BD871-9EB7-C062-E5EA-5432BA90CAB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42C63-1C42-4AEC-69C6-9617BD21689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C2451-605E-4FB8-AF09-E57797A779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63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Droplets-HD-Content-R1d.png">
            <a:extLst>
              <a:ext uri="{FF2B5EF4-FFF2-40B4-BE49-F238E27FC236}">
                <a16:creationId xmlns:a16="http://schemas.microsoft.com/office/drawing/2014/main" id="{1F75C3EC-9100-A5D6-DC6E-BE8104A32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00ED60B-D309-9129-750A-98D16581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0444D-30C6-447C-8FB6-8A14B24F1062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33BC6AA4-2BE8-6B2F-AAA6-5ED5B40B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6EB1149-A519-BCC3-5E6A-453B7503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D6C57-4E15-4E98-B443-AAEA32A474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01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Droplets-HD-Content-R1d.png">
            <a:extLst>
              <a:ext uri="{FF2B5EF4-FFF2-40B4-BE49-F238E27FC236}">
                <a16:creationId xmlns:a16="http://schemas.microsoft.com/office/drawing/2014/main" id="{71C23000-38BA-84E8-49FA-B928E29AB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A061F5F-20B9-A5C8-DB33-16E71FD2C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D37DC-F10B-4BD9-908F-5795CCBB62D2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EDACB98-2CF6-6355-1A30-A9960922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9F28BA3-4A01-E8F3-FD20-1DFDFABC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BEB50-2371-4594-BF33-DF97D860B9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82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roplets-HD-Content-R1d.png">
            <a:extLst>
              <a:ext uri="{FF2B5EF4-FFF2-40B4-BE49-F238E27FC236}">
                <a16:creationId xmlns:a16="http://schemas.microsoft.com/office/drawing/2014/main" id="{C1C8F0C1-1A80-1A88-444B-27B40167C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B2EEE-1831-CDB3-3BA8-8C89AC0CD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3D427-195E-4A89-AF57-F10617A99DCB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31AE1-1944-CE78-57DA-2E89A6F4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810B4-719B-2A11-A353-21ED8B5D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35339-226B-44C9-B6E2-9ADE80019C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14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roplets-HD-Content-R1d.png">
            <a:extLst>
              <a:ext uri="{FF2B5EF4-FFF2-40B4-BE49-F238E27FC236}">
                <a16:creationId xmlns:a16="http://schemas.microsoft.com/office/drawing/2014/main" id="{D0F4CF75-0E50-CC15-BE0B-4EE96B58D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07D13E-9BDF-D750-06B3-386BA3D20673}"/>
              </a:ext>
            </a:extLst>
          </p:cNvPr>
          <p:cNvSpPr txBox="1"/>
          <p:nvPr/>
        </p:nvSpPr>
        <p:spPr>
          <a:xfrm>
            <a:off x="1001713" y="754063"/>
            <a:ext cx="6096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8000" dirty="0">
                <a:effectLst/>
                <a:latin typeface="+mn-lt"/>
              </a:rPr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7E0C22-E28B-1B57-9462-BA8C3DF27E9F}"/>
              </a:ext>
            </a:extLst>
          </p:cNvPr>
          <p:cNvSpPr txBox="1"/>
          <p:nvPr/>
        </p:nvSpPr>
        <p:spPr>
          <a:xfrm>
            <a:off x="10556875" y="2994025"/>
            <a:ext cx="6096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8000" dirty="0">
                <a:effectLst/>
                <a:latin typeface="+mn-lt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178447C5-173D-4E52-0AEB-444CB866EF2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2BDEF-4299-463D-B5A7-1AADACBC0EED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5C68E29-56C7-D821-6A92-5A0DA90C32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566C3D4-AC7E-4D2E-23BC-A318D062A9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8463B-23F6-4F02-BE41-161C30C317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250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roplets-HD-Content-R1d.png">
            <a:extLst>
              <a:ext uri="{FF2B5EF4-FFF2-40B4-BE49-F238E27FC236}">
                <a16:creationId xmlns:a16="http://schemas.microsoft.com/office/drawing/2014/main" id="{37485018-94F0-150F-C706-999EA702A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A0BEC-6C5C-9E7D-AC06-EE300B43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50CE3-0609-41CA-8131-275C610D4865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11A41-F97B-6B70-79A0-37221BE42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4260A-65CB-C6DA-1C15-F5ACB6904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DD69B-9EDE-43B6-95A8-3AEBBBFE2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878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Droplets-HD-Content-R1d.png">
            <a:extLst>
              <a:ext uri="{FF2B5EF4-FFF2-40B4-BE49-F238E27FC236}">
                <a16:creationId xmlns:a16="http://schemas.microsoft.com/office/drawing/2014/main" id="{D4F461E7-3A1D-3772-321D-AEBC724B6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BA97BA-6D87-7317-4E45-8284ED4BF82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530DAE-8A96-4327-8F27-408377318BBD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F8CBD-F500-5F97-9AB2-1D25A3ED39E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FC302-CDD3-0FF5-407B-82E66E42DC9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AE073-A87C-473F-BDDD-78D0C4D68C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289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Droplets-HD-Content-R1d.png">
            <a:extLst>
              <a:ext uri="{FF2B5EF4-FFF2-40B4-BE49-F238E27FC236}">
                <a16:creationId xmlns:a16="http://schemas.microsoft.com/office/drawing/2014/main" id="{C25E4851-9170-BE53-673B-E161B96C4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9F32C8-73B9-9DBA-12F3-9C0E1703A8B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057D3-3C75-42F2-A1E0-8F89E9F34519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9A97A0-3F25-3918-ED6E-BC0BA189D5A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ED4FA-C3E6-F3B9-F937-12324224D3C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1D591-6D88-474B-92E7-C8D1BA46E6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roplets-HD-Content-R1d.png">
            <a:extLst>
              <a:ext uri="{FF2B5EF4-FFF2-40B4-BE49-F238E27FC236}">
                <a16:creationId xmlns:a16="http://schemas.microsoft.com/office/drawing/2014/main" id="{DFC3B2BC-79BC-3A33-6DA8-CBAAD216A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354AC-3B25-9D24-9D03-4D6900EF7F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5CC29-C785-47CA-8D46-16E7ECBEFD29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91641-B5C9-D998-CFDE-743D2CE12D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2D47-5159-7643-0DBF-4D31B4A138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18C56-295C-460A-BD9D-76C917743D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381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Droplets-HD-Content-R1d.png">
            <a:extLst>
              <a:ext uri="{FF2B5EF4-FFF2-40B4-BE49-F238E27FC236}">
                <a16:creationId xmlns:a16="http://schemas.microsoft.com/office/drawing/2014/main" id="{1FF5501C-CB73-9A74-E501-1DB635BFB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D3FEB-E504-DCD9-8BB9-EF53AC38B9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24492-1C4E-44C7-9FD5-C61312BC733B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1477F-B0AE-B833-574B-1228E821BE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B476F-3EBF-93CF-A2D6-0995B19835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CDB82-47B5-49D8-AE4B-DA07DC40AB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17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BECF5"/>
            </a:gs>
            <a:gs pos="100000">
              <a:srgbClr val="73ABDC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>
            <a:extLst>
              <a:ext uri="{FF2B5EF4-FFF2-40B4-BE49-F238E27FC236}">
                <a16:creationId xmlns:a16="http://schemas.microsoft.com/office/drawing/2014/main" id="{7958724F-11C8-5BD3-2BF2-D7C3D8E43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6C198-BEB2-E57E-FDCD-8DA45C84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19125"/>
            <a:ext cx="10363200" cy="1595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FFD81-EB76-0B59-B2BA-412CDD01E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963"/>
            <a:ext cx="10363200" cy="3424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22E2E-AE7C-6E69-3005-B179651C5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8738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ACC5392A-350B-46C2-995A-25AAA2468791}" type="datetimeFigureOut">
              <a:rPr lang="en-US"/>
              <a:pPr>
                <a:defRPr/>
              </a:pPr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20DD7-2AF3-8848-18CC-73A41AFD3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5883275"/>
            <a:ext cx="66722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4B9BC-6311-2734-E5CD-72F070E58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4013" y="5883275"/>
            <a:ext cx="7635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790DC4F5-BC32-4162-9C42-CEE521AFD72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  <p:sldLayoutId id="2147483856" r:id="rId17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 kern="1200" cap="all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kern="1200" cap="all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600" kern="1200" cap="all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400" kern="1200" cap="all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400" kern="1200" cap="all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pp.powerbi.com/groups/me/reports/f9b886d2-b5b4-4941-a1ac-82f68c1a3cfc/?pbi_source=PowerPoin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D4C8B1-FC57-0032-94DD-A4A1A2EBB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9670" y="651856"/>
            <a:ext cx="8689976" cy="2509213"/>
          </a:xfrm>
        </p:spPr>
        <p:txBody>
          <a:bodyPr/>
          <a:lstStyle/>
          <a:p>
            <a:r>
              <a:rPr lang="en-IN" dirty="0"/>
              <a:t>Adventure Works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E1EEE5-8EBE-2CBF-572B-5DDA6B016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555" y="3429000"/>
            <a:ext cx="4103239" cy="214563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Bannigovind Pilli</a:t>
            </a:r>
          </a:p>
          <a:p>
            <a:pPr algn="l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AMIYA KUMAR PATRA</a:t>
            </a:r>
          </a:p>
          <a:p>
            <a:pPr algn="l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ABHISHEK DATTATRAY KARANDE</a:t>
            </a:r>
          </a:p>
          <a:p>
            <a:pPr algn="l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DERANGULA JEEVAN</a:t>
            </a:r>
          </a:p>
          <a:p>
            <a:pPr algn="l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SHUBHAM</a:t>
            </a:r>
          </a:p>
        </p:txBody>
      </p:sp>
    </p:spTree>
    <p:extLst>
      <p:ext uri="{BB962C8B-B14F-4D97-AF65-F5344CB8AC3E}">
        <p14:creationId xmlns:p14="http://schemas.microsoft.com/office/powerpoint/2010/main" val="61404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1F1DB-1CCF-EF9B-43C4-705EE487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cs typeface="Times New Roman" panose="02020603050405020304" pitchFamily="18" charset="0"/>
              </a:rPr>
              <a:t>Introduction – Adventure Works Cycles</a:t>
            </a:r>
            <a:br>
              <a:rPr lang="en-US" b="1" dirty="0"/>
            </a:br>
            <a:endParaRPr lang="en-IN" dirty="0"/>
          </a:p>
        </p:txBody>
      </p:sp>
      <p:sp>
        <p:nvSpPr>
          <p:cNvPr id="20483" name="TextBox 11">
            <a:extLst>
              <a:ext uri="{FF2B5EF4-FFF2-40B4-BE49-F238E27FC236}">
                <a16:creationId xmlns:a16="http://schemas.microsoft.com/office/drawing/2014/main" id="{44BCE93E-5530-5B5B-1A4F-5DE118E8B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903413"/>
            <a:ext cx="822642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Domine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 Cycles is a multinational manufacturing company.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Manufactures and sells metal and composite bicycles.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Operates in North America, Europe, and Asia.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Headquarters: Bothell, Washington (290 employees).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Regional sales teams support global markets.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Industry:</a:t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&amp; Retail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Type:</a:t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Bicycle Manufacturing Company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Products: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Metal Bicycles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Composite Bicycles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Touring Bicycles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Bicycle Accessories &amp; Components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D3F7EE-B9A2-E801-8366-077C6881D637}"/>
              </a:ext>
            </a:extLst>
          </p:cNvPr>
          <p:cNvSpPr txBox="1"/>
          <p:nvPr/>
        </p:nvSpPr>
        <p:spPr>
          <a:xfrm>
            <a:off x="1154113" y="762000"/>
            <a:ext cx="7758112" cy="59093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Expansion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2000s, the company acquired a manufacturing plant in Mexico.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Mexico plant produces critical bicycle subcomponents.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Subcomponents are shipped to Bothell for final assembly.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Became sole manufacturer of the Touring Bicycle product group in 2001.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share growth is limited in competitive regions.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are not fully optimized toward high-value customers.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and operational costs need reduction.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online product availability.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data-driven decision-making insights.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using data analytics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overall sales and profitability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target high-value customers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product and regional sales performance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production and operational costs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business </a:t>
            </a:r>
            <a:endParaRPr lang="en-US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1">
            <a:extLst>
              <a:ext uri="{FF2B5EF4-FFF2-40B4-BE49-F238E27FC236}">
                <a16:creationId xmlns:a16="http://schemas.microsoft.com/office/drawing/2014/main" id="{C4E97628-66B9-4BBF-55B7-CD7E810C9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3025" y="287338"/>
            <a:ext cx="5081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3200" b="1"/>
              <a:t>Adventure Works </a:t>
            </a:r>
          </a:p>
        </p:txBody>
      </p:sp>
      <p:sp>
        <p:nvSpPr>
          <p:cNvPr id="23555" name="TextBox 2">
            <a:extLst>
              <a:ext uri="{FF2B5EF4-FFF2-40B4-BE49-F238E27FC236}">
                <a16:creationId xmlns:a16="http://schemas.microsoft.com/office/drawing/2014/main" id="{E4656C87-7BEE-9EF5-A55A-99F37A9D3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822325"/>
            <a:ext cx="5599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Fact Table with Dimension Tables (Adventure Works Model)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4316735-E5FF-BBC2-1381-FCA81DE6C0F4}"/>
              </a:ext>
            </a:extLst>
          </p:cNvPr>
          <p:cNvSpPr/>
          <p:nvPr/>
        </p:nvSpPr>
        <p:spPr>
          <a:xfrm>
            <a:off x="2163763" y="1646238"/>
            <a:ext cx="4114800" cy="3840162"/>
          </a:xfrm>
          <a:prstGeom prst="roundRect">
            <a:avLst/>
          </a:prstGeom>
          <a:solidFill>
            <a:srgbClr val="19499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FactSales</a:t>
            </a:r>
            <a:endParaRPr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Keys:</a:t>
            </a:r>
            <a:b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SalesKey</a:t>
            </a:r>
            <a:b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CustomerKey</a:t>
            </a:r>
            <a:b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ProductKey</a:t>
            </a:r>
            <a:b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DateKey</a:t>
            </a:r>
            <a:b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TerritoryKey</a:t>
            </a:r>
            <a:b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Measures:</a:t>
            </a:r>
            <a:b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SalesAmount</a:t>
            </a:r>
            <a:b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OrderQuantity</a:t>
            </a:r>
            <a:b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DiscountAmount</a:t>
            </a:r>
            <a:endParaRPr sz="1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CFBCCC-2D7F-80AD-9207-F99E3003AE0B}"/>
              </a:ext>
            </a:extLst>
          </p:cNvPr>
          <p:cNvSpPr/>
          <p:nvPr/>
        </p:nvSpPr>
        <p:spPr>
          <a:xfrm>
            <a:off x="7010400" y="1554163"/>
            <a:ext cx="3200400" cy="920750"/>
          </a:xfrm>
          <a:prstGeom prst="roundRec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👥 </a:t>
            </a:r>
            <a:r>
              <a:rPr sz="16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DimCustomer</a:t>
            </a:r>
            <a:endParaRPr lang="en-US"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 b="1">
                <a:solidFill>
                  <a:srgbClr val="FFFFFF"/>
                </a:solidFill>
              </a:defRPr>
            </a:pPr>
            <a:r>
              <a:rPr lang="en-IN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Key</a:t>
            </a:r>
            <a:endParaRPr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E10253-CBFD-6D02-5FD6-98DD6FBF14C3}"/>
              </a:ext>
            </a:extLst>
          </p:cNvPr>
          <p:cNvSpPr/>
          <p:nvPr/>
        </p:nvSpPr>
        <p:spPr>
          <a:xfrm>
            <a:off x="7010400" y="2835275"/>
            <a:ext cx="3200400" cy="920750"/>
          </a:xfrm>
          <a:prstGeom prst="roundRect">
            <a:avLst/>
          </a:prstGeom>
          <a:solidFill>
            <a:srgbClr val="00B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📅 </a:t>
            </a:r>
            <a:r>
              <a:rPr sz="16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DimDate</a:t>
            </a:r>
            <a:endParaRPr lang="en-US"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 b="1">
                <a:solidFill>
                  <a:srgbClr val="FFFFFF"/>
                </a:solidFill>
              </a:defRPr>
            </a:pPr>
            <a:r>
              <a:rPr lang="en-IN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 Date Key</a:t>
            </a:r>
            <a:endParaRPr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62BFAD-245B-C18E-CBAB-EAB3C6B5B9A4}"/>
              </a:ext>
            </a:extLst>
          </p:cNvPr>
          <p:cNvSpPr/>
          <p:nvPr/>
        </p:nvSpPr>
        <p:spPr>
          <a:xfrm>
            <a:off x="7010400" y="4114800"/>
            <a:ext cx="3200400" cy="1096963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📦 </a:t>
            </a:r>
            <a:r>
              <a:rPr sz="16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DimProduct</a:t>
            </a:r>
            <a:endParaRPr lang="en-US"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 b="1">
                <a:solidFill>
                  <a:srgbClr val="FFFFFF"/>
                </a:solidFill>
              </a:defRPr>
            </a:pPr>
            <a:r>
              <a:rPr lang="en-IN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  <a:p>
            <a:pPr marL="285750" indent="-285750">
              <a:buFont typeface="Courier New" panose="02070309020205020404" pitchFamily="49" charset="0"/>
              <a:buChar char="o"/>
              <a:defRPr sz="1600" b="1">
                <a:solidFill>
                  <a:srgbClr val="FFFFFF"/>
                </a:solidFill>
              </a:defRPr>
            </a:pPr>
            <a:r>
              <a:rPr lang="en-IN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</a:t>
            </a:r>
          </a:p>
          <a:p>
            <a:pPr marL="285750" indent="-285750">
              <a:buFont typeface="Courier New" panose="02070309020205020404" pitchFamily="49" charset="0"/>
              <a:buChar char="o"/>
              <a:defRPr sz="1600" b="1">
                <a:solidFill>
                  <a:srgbClr val="FFFFFF"/>
                </a:solidFill>
              </a:defRPr>
            </a:pPr>
            <a:r>
              <a:rPr lang="en-IN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– Product Category</a:t>
            </a:r>
            <a:endParaRPr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A3F0B56-3C85-FC93-9399-5E7B7D9A291E}"/>
              </a:ext>
            </a:extLst>
          </p:cNvPr>
          <p:cNvSpPr/>
          <p:nvPr/>
        </p:nvSpPr>
        <p:spPr>
          <a:xfrm>
            <a:off x="7010400" y="5303838"/>
            <a:ext cx="3200400" cy="822325"/>
          </a:xfrm>
          <a:prstGeom prst="roundRect">
            <a:avLst/>
          </a:prstGeom>
          <a:solidFill>
            <a:srgbClr val="00B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🌍 </a:t>
            </a:r>
            <a:r>
              <a:rPr sz="16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DimSalesTerritory</a:t>
            </a:r>
            <a:endParaRPr lang="en-US"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• </a:t>
            </a:r>
            <a:r>
              <a:rPr lang="en-US" sz="16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TerritoryKey</a:t>
            </a:r>
            <a:endParaRPr lang="en-US"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61" name="TextBox 12">
            <a:extLst>
              <a:ext uri="{FF2B5EF4-FFF2-40B4-BE49-F238E27FC236}">
                <a16:creationId xmlns:a16="http://schemas.microsoft.com/office/drawing/2014/main" id="{5DF8CF56-5EB1-9582-BF35-0DD8D199E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218238"/>
            <a:ext cx="7362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/>
              <a:t> Schema  |  Optimized for Analytics  |  Scalable Design  |  Business Ready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426CCA-BDA4-942A-5D53-D397B7D14CC6}"/>
              </a:ext>
            </a:extLst>
          </p:cNvPr>
          <p:cNvCxnSpPr>
            <a:stCxn id="4" idx="3"/>
          </p:cNvCxnSpPr>
          <p:nvPr/>
        </p:nvCxnSpPr>
        <p:spPr>
          <a:xfrm flipV="1">
            <a:off x="6278563" y="2297113"/>
            <a:ext cx="731837" cy="1268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470B2B-84F4-0844-B8CD-19BC4909516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6278563" y="3295650"/>
            <a:ext cx="731837" cy="269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7A7353-FAF8-16C8-4752-8BD9846B8BBD}"/>
              </a:ext>
            </a:extLst>
          </p:cNvPr>
          <p:cNvCxnSpPr>
            <a:stCxn id="4" idx="3"/>
          </p:cNvCxnSpPr>
          <p:nvPr/>
        </p:nvCxnSpPr>
        <p:spPr>
          <a:xfrm>
            <a:off x="6278563" y="3565525"/>
            <a:ext cx="731837" cy="839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EC89C2F-A014-D22A-2570-D7541302394A}"/>
              </a:ext>
            </a:extLst>
          </p:cNvPr>
          <p:cNvCxnSpPr>
            <a:stCxn id="4" idx="3"/>
          </p:cNvCxnSpPr>
          <p:nvPr/>
        </p:nvCxnSpPr>
        <p:spPr>
          <a:xfrm>
            <a:off x="6278563" y="3565525"/>
            <a:ext cx="731837" cy="210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AB8A-C8E5-19B4-26BF-4120BF7B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4300"/>
            <a:ext cx="10363200" cy="1090613"/>
          </a:xfrm>
        </p:spPr>
        <p:txBody>
          <a:bodyPr/>
          <a:lstStyle/>
          <a:p>
            <a:pPr>
              <a:defRPr/>
            </a:pPr>
            <a:r>
              <a:rPr lang="en-US" dirty="0"/>
              <a:t>Data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147DE-2959-5F1E-67DC-52EC13C6EA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412875"/>
            <a:ext cx="10363200" cy="4378325"/>
          </a:xfrm>
        </p:spPr>
        <p:txBody>
          <a:bodyPr/>
          <a:lstStyle/>
          <a:p>
            <a:pPr>
              <a:defRPr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Files: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files used Excel format for Power bi , Tableau , MS Excel . Only SQL import in CSV format File.</a:t>
            </a:r>
          </a:p>
          <a:p>
            <a:pPr>
              <a:defRPr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60398 Rows Across All files ( Clean and Filter Data)</a:t>
            </a:r>
          </a:p>
          <a:p>
            <a:pPr>
              <a:defRPr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 :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Territory key, Customer Key, Product Key, Order Date key, Product Category Key, Sub – Category Key.</a:t>
            </a:r>
          </a:p>
          <a:p>
            <a:pPr>
              <a:defRPr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Aggregations: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IN" cap="non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6BD4B3-E8BF-A8A0-E4B4-9DF66D4D2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127048"/>
              </p:ext>
            </p:extLst>
          </p:nvPr>
        </p:nvGraphicFramePr>
        <p:xfrm>
          <a:off x="2391568" y="4212771"/>
          <a:ext cx="7655945" cy="123235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5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4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7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6177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Sales Amount</a:t>
                      </a:r>
                      <a:endParaRPr lang="en-IN" sz="1200" b="1" i="0" u="none" strike="noStrike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en-IN" sz="1200" b="1" i="0" u="none" strike="noStrike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Order Quantity</a:t>
                      </a:r>
                      <a:endParaRPr lang="en-IN" sz="1200" b="1" i="0" u="none" strike="noStrike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Cost</a:t>
                      </a:r>
                      <a:endParaRPr lang="en-IN" sz="1200" b="1" i="0" u="none" strike="noStrike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Key</a:t>
                      </a:r>
                      <a:endParaRPr lang="en-IN" sz="1200" b="1" i="0" u="none" strike="noStrike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Territory Country</a:t>
                      </a:r>
                      <a:endParaRPr lang="en-IN" sz="1200" b="1" i="0" u="none" strike="noStrike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177"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29.4M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12.1M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60398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17.3M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18484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8A0D5C4-57CA-A880-12CC-19187FE4C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/>
              <a:t>Objective/ kpi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FC5805A-AC95-5F8D-3C9D-0CF8193AA5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366963"/>
            <a:ext cx="10363200" cy="34242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 wise Analysis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Trend/Monthly Analysis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Analysis( Top 5Product, Product Category 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Analysis( Top 5 Customer, Gender, Profession)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Analysis( Top 5 Country, Territory)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IN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IN" cap="none" dirty="0"/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22BC285-51AB-9B04-3CCE-21040FE5F9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1467941"/>
              </p:ext>
            </p:extLst>
          </p:nvPr>
        </p:nvGraphicFramePr>
        <p:xfrm>
          <a:off x="411017" y="936335"/>
          <a:ext cx="5140695" cy="2492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627" name="TextBox 4">
            <a:extLst>
              <a:ext uri="{FF2B5EF4-FFF2-40B4-BE49-F238E27FC236}">
                <a16:creationId xmlns:a16="http://schemas.microsoft.com/office/drawing/2014/main" id="{BCE42268-60A4-17A9-135C-762A328D9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838" y="893434"/>
            <a:ext cx="6094412" cy="2399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 showed strong sales growth from </a:t>
            </a: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2011 to 2013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reaching the highest revenue in </a:t>
            </a: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2013 (16.4M)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was a small decline in </a:t>
            </a: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2012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sales dropped sharply in </a:t>
            </a: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company experienced rapid growth but lacked consistent performance after its peak year.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CE47217-D66A-4A61-A385-F10CAFF33E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1729084"/>
              </p:ext>
            </p:extLst>
          </p:nvPr>
        </p:nvGraphicFramePr>
        <p:xfrm>
          <a:off x="411016" y="3953185"/>
          <a:ext cx="5140696" cy="2492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629" name="TextBox 7">
            <a:extLst>
              <a:ext uri="{FF2B5EF4-FFF2-40B4-BE49-F238E27FC236}">
                <a16:creationId xmlns:a16="http://schemas.microsoft.com/office/drawing/2014/main" id="{AB831313-379A-DCD1-A137-0248FFC66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838" y="4032250"/>
            <a:ext cx="6094412" cy="152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 monthly value insights show sales starting at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1.9M in January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dropping to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1.7M in February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rising to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2.9M in June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fluctuating around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2.4M–2.7M mid-year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reaching the highest value of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3.2M in December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overall growth.</a:t>
            </a:r>
            <a:endParaRPr lang="en-I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7FE78-FA51-ECE5-7608-5AF8469633D2}"/>
              </a:ext>
            </a:extLst>
          </p:cNvPr>
          <p:cNvSpPr txBox="1"/>
          <p:nvPr/>
        </p:nvSpPr>
        <p:spPr>
          <a:xfrm>
            <a:off x="7715621" y="283647"/>
            <a:ext cx="2375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 wise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F783A3-53E1-186E-A86B-7DEDA3333759}"/>
              </a:ext>
            </a:extLst>
          </p:cNvPr>
          <p:cNvSpPr txBox="1"/>
          <p:nvPr/>
        </p:nvSpPr>
        <p:spPr>
          <a:xfrm>
            <a:off x="7466724" y="3583853"/>
            <a:ext cx="2784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Trend/Monthly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5D2382A-253E-37F5-DEA6-566D966230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2750389"/>
              </p:ext>
            </p:extLst>
          </p:nvPr>
        </p:nvGraphicFramePr>
        <p:xfrm>
          <a:off x="490538" y="1311275"/>
          <a:ext cx="4453741" cy="2585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651" name="TextBox 3">
            <a:extLst>
              <a:ext uri="{FF2B5EF4-FFF2-40B4-BE49-F238E27FC236}">
                <a16:creationId xmlns:a16="http://schemas.microsoft.com/office/drawing/2014/main" id="{DE301470-DC69-C5A0-3106-4B546522C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1625600"/>
            <a:ext cx="60944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 generates the majority of its revenue from Bikes (~28M), while Accessories (~1M) and Clothing (~0.5–1M) contribute significantly less, indicating that Bikes are the primary driver of overall sales.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15CBE498-5C1E-3FBF-92B3-0CCDE584E8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6124050"/>
              </p:ext>
            </p:extLst>
          </p:nvPr>
        </p:nvGraphicFramePr>
        <p:xfrm>
          <a:off x="5970361" y="3156982"/>
          <a:ext cx="5396139" cy="3266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653" name="TextBox 12">
            <a:extLst>
              <a:ext uri="{FF2B5EF4-FFF2-40B4-BE49-F238E27FC236}">
                <a16:creationId xmlns:a16="http://schemas.microsoft.com/office/drawing/2014/main" id="{41B25578-E2C4-4DC5-A6B7-16BFE8324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067" y="4418735"/>
            <a:ext cx="5396139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that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Mountain-200 Black (46)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sales at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closely by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Mountain-200 Black (42)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other three products have slightly lower but similar sales around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3BA9F-8A8A-E168-49D9-8944A09AD4DA}"/>
              </a:ext>
            </a:extLst>
          </p:cNvPr>
          <p:cNvSpPr txBox="1"/>
          <p:nvPr/>
        </p:nvSpPr>
        <p:spPr>
          <a:xfrm>
            <a:off x="3151909" y="434808"/>
            <a:ext cx="6094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endParaRPr lang="en-IN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689435E-4E15-05BD-42E0-C2FACB9CAE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4537315"/>
              </p:ext>
            </p:extLst>
          </p:nvPr>
        </p:nvGraphicFramePr>
        <p:xfrm>
          <a:off x="446314" y="1298863"/>
          <a:ext cx="5649686" cy="4013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675" name="TextBox 3">
            <a:extLst>
              <a:ext uri="{FF2B5EF4-FFF2-40B4-BE49-F238E27FC236}">
                <a16:creationId xmlns:a16="http://schemas.microsoft.com/office/drawing/2014/main" id="{E8C63637-2884-6B27-E049-1F26AF1C8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714" y="1498600"/>
            <a:ext cx="5216299" cy="336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Works’ top 5 customers—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Nichole Nara (13.3K), Kaitlyn J Henderson (13.3K), Margaret He (13.3K), Randall M Dominguez (13.3K), and Adriana L Gonzalez (13.2K)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—contribute almost equal revenue, indicating balanced customer value; the business should focus on retention strategies and personalized offers to maintain and grow these high-value customers</a:t>
            </a:r>
            <a:endParaRPr lang="en-I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29562-2E41-9E6C-EE30-E5A3B120CEE2}"/>
              </a:ext>
            </a:extLst>
          </p:cNvPr>
          <p:cNvSpPr txBox="1"/>
          <p:nvPr/>
        </p:nvSpPr>
        <p:spPr>
          <a:xfrm>
            <a:off x="2947556" y="220579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</a:t>
            </a:r>
            <a:endParaRPr lang="en-IN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D044634-7E2E-AF30-9007-1251502945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8402508"/>
              </p:ext>
            </p:extLst>
          </p:nvPr>
        </p:nvGraphicFramePr>
        <p:xfrm>
          <a:off x="455386" y="1356735"/>
          <a:ext cx="4214585" cy="2516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3E6ABC6-347F-CED4-7FDD-3FEDD12127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3765137"/>
              </p:ext>
            </p:extLst>
          </p:nvPr>
        </p:nvGraphicFramePr>
        <p:xfrm>
          <a:off x="7391401" y="3528622"/>
          <a:ext cx="4570846" cy="2516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700" name="TextBox 6">
            <a:extLst>
              <a:ext uri="{FF2B5EF4-FFF2-40B4-BE49-F238E27FC236}">
                <a16:creationId xmlns:a16="http://schemas.microsoft.com/office/drawing/2014/main" id="{378E84F9-C9AA-BD10-E6D9-DB7AC0D2D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2743" y="1125084"/>
            <a:ext cx="6094413" cy="1894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Works’ profession-wise customer sales show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– 9.9M (highest)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– 6.4M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– 5.5M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Clerical – 4.7M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– 2.9M (lowest)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the business should focus on retaining Professional and Skilled customers while creating targeted offers to improve sales from Manual and Clerical segments. </a:t>
            </a:r>
            <a:endParaRPr lang="en-I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01" name="TextBox 8">
            <a:extLst>
              <a:ext uri="{FF2B5EF4-FFF2-40B4-BE49-F238E27FC236}">
                <a16:creationId xmlns:a16="http://schemas.microsoft.com/office/drawing/2014/main" id="{C68C2078-82A1-1CA3-BF8A-D1447B3A4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575" y="4183063"/>
            <a:ext cx="6094413" cy="1894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Works’ gender-wise sales show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contributing 14.8M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contributing 14.5M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nearly equal purchasing power; the business should continue targeting both segments while slightly strengthening marketing strategies toward female customers to maximize revenue growth</a:t>
            </a:r>
            <a:endParaRPr lang="en-I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F25E5-C588-5202-490D-ECDBCA6585F8}"/>
              </a:ext>
            </a:extLst>
          </p:cNvPr>
          <p:cNvSpPr txBox="1"/>
          <p:nvPr/>
        </p:nvSpPr>
        <p:spPr>
          <a:xfrm>
            <a:off x="3329420" y="233340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</a:t>
            </a:r>
            <a:endParaRPr lang="en-IN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B3267D6-64B6-EA17-1635-35A5E8332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8053432"/>
              </p:ext>
            </p:extLst>
          </p:nvPr>
        </p:nvGraphicFramePr>
        <p:xfrm>
          <a:off x="0" y="1143000"/>
          <a:ext cx="4772025" cy="2985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C24EB32-5D7E-AE07-6CE5-2D65EB683A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7511968"/>
              </p:ext>
            </p:extLst>
          </p:nvPr>
        </p:nvGraphicFramePr>
        <p:xfrm>
          <a:off x="6596743" y="3516086"/>
          <a:ext cx="4963886" cy="2735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724" name="TextBox 4">
            <a:extLst>
              <a:ext uri="{FF2B5EF4-FFF2-40B4-BE49-F238E27FC236}">
                <a16:creationId xmlns:a16="http://schemas.microsoft.com/office/drawing/2014/main" id="{2947F286-67F5-E6B2-E798-72514ADCA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" y="4291013"/>
            <a:ext cx="5839279" cy="2264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Works’ country-wise sales show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– 9.4M (highest)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 – 9.1M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Germany – 3.4M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France – 2.9M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Canada – 2.6M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Kingdom – 2.0M (lowest)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the business should strengthen its presence in the United States and Australia while implementing targeted marketing strategies to improve performance in lower-contributing countries</a:t>
            </a:r>
            <a:endParaRPr lang="en-I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5" name="TextBox 7">
            <a:extLst>
              <a:ext uri="{FF2B5EF4-FFF2-40B4-BE49-F238E27FC236}">
                <a16:creationId xmlns:a16="http://schemas.microsoft.com/office/drawing/2014/main" id="{E47FA5DC-C3AC-CC48-E9D5-0BAD30765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025" y="1685925"/>
            <a:ext cx="6094413" cy="1894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Works’ territory-wise sales show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America – 11.4M (highest)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Pacific – 9.1M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 – 8.9M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the business should continue strengthening operations in North America while expanding marketing and distribution strategies in Pacific and Europe to drive additional growth. </a:t>
            </a:r>
            <a:endParaRPr lang="en-I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92288-9A70-7A90-B4EC-4BF25022261C}"/>
              </a:ext>
            </a:extLst>
          </p:cNvPr>
          <p:cNvSpPr txBox="1"/>
          <p:nvPr/>
        </p:nvSpPr>
        <p:spPr>
          <a:xfrm>
            <a:off x="5056528" y="421759"/>
            <a:ext cx="2138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Analysis</a:t>
            </a:r>
            <a:endParaRPr lang="en-IN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5555-EEE0-8EF3-7CC3-68B8A3560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19125"/>
            <a:ext cx="10363200" cy="804863"/>
          </a:xfrm>
        </p:spPr>
        <p:txBody>
          <a:bodyPr/>
          <a:lstStyle/>
          <a:p>
            <a:pPr>
              <a:defRPr/>
            </a:pPr>
            <a:r>
              <a:rPr lang="en-US" dirty="0"/>
              <a:t>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AB617-8516-AEF1-66E4-C0DA1EED60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652588"/>
            <a:ext cx="10363200" cy="413861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. Data Collection :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Handled Nulls, Removed Duplicated, Filter Rows, Changing Data Type,    Modifying Headers.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Transformation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Power Query in MS Excel and Power bi. Tableau in Data Source, SQL in imported CSV File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Visualization :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bi, Tableau , MS Excel.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Insight Extraction :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charts, Pie Chart, Line Chart etc.</a:t>
            </a:r>
          </a:p>
          <a:p>
            <a:pPr>
              <a:defRPr/>
            </a:pPr>
            <a:endParaRPr lang="en-IN" cap="non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F9D8-47DD-21FA-B3E8-8AED5A166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1150"/>
            <a:ext cx="10363200" cy="842963"/>
          </a:xfrm>
        </p:spPr>
        <p:txBody>
          <a:bodyPr/>
          <a:lstStyle/>
          <a:p>
            <a:pPr>
              <a:defRPr/>
            </a:pPr>
            <a:r>
              <a:rPr lang="en-IN" dirty="0"/>
              <a:t>Insight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D58E3-CA24-C99E-0D44-4EE3CC7DBC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517650"/>
            <a:ext cx="10363200" cy="42735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Font typeface="Arial" panose="020B0604020202020204" pitchFamily="34" charset="0"/>
              <a:buNone/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Growth &amp; Decline Trend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None/>
              <a:defRPr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increased strongly from 2011 to 2013 (Peak: 16.4M in 2013) but dropped sharply in 2014 (Page 8).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None/>
              <a:defRPr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reasons for 2014 decline (market, pricing, competition) and introduce seasonal promotions and retention campaigns to stabilize yearly performance.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Arial" panose="020B0604020202020204" pitchFamily="34" charset="0"/>
              <a:buNone/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:Bikes Drive Majority Revenue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None/>
              <a:defRPr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Bikes generate ~28M revenue, while Accessories (~1M) and Clothing (&lt;1M) contribute very little (Page 9).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None/>
              <a:defRPr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marketing on high-margin bike models and increase cross-selling of accessories with bike purchases to boost overall revenue.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None/>
              <a:defRPr/>
            </a:pP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Font typeface="Arial" panose="020B0604020202020204" pitchFamily="34" charset="0"/>
              <a:buNone/>
              <a:defRPr/>
            </a:pP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Box 5">
            <a:extLst>
              <a:ext uri="{FF2B5EF4-FFF2-40B4-BE49-F238E27FC236}">
                <a16:creationId xmlns:a16="http://schemas.microsoft.com/office/drawing/2014/main" id="{C0FF0DA8-4853-FD70-0976-A27A826BF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0" y="242888"/>
            <a:ext cx="9818688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3.Professional Segment is Highest Revenue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customers contribute the highest sales (9.9M), followed by Skilled segment (6.4M) (Page 11).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premium product bundles and loyalty programs targeting Professional &amp; Skilled segments while offering discounts to grow Manual &amp; Clerical segments.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North America &amp; USA Lead Sales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America (11.4M) is top territory and United States (9.4M) is highest country contributor (Page 12).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distribution and marketing in North America while expanding growth strategies in Europe and lower-performing countries like UK and Canada.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Balanced Gender Contribution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(14.8M) and Male (14.5M) sales are nearly equal (Page 11).</a:t>
            </a:r>
          </a:p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gender-neutral marketing strategy but introduce targeted campaigns for female riders to slightly increase market share.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4971-17E9-8A43-7EEA-F952E134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Conclusion</a:t>
            </a:r>
            <a:endParaRPr lang="en-IN" dirty="0"/>
          </a:p>
        </p:txBody>
      </p:sp>
      <p:sp>
        <p:nvSpPr>
          <p:cNvPr id="34819" name="TextBox 3">
            <a:extLst>
              <a:ext uri="{FF2B5EF4-FFF2-40B4-BE49-F238E27FC236}">
                <a16:creationId xmlns:a16="http://schemas.microsoft.com/office/drawing/2014/main" id="{1C7B92AA-0FB8-245F-3FD5-63C42D3E3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527300"/>
            <a:ext cx="1021397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Adventure Works has strong revenue performance led by the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Bikes category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customer segment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North American region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with peak sales achieved in 2013. However, the decline in 2014 indicates the need for better sustainability and strategic planning.</a:t>
            </a: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Revenue is concentrated in specific products, professions, and regions, while other categories and countries show growth potential. Customer purchasing power is balanced across genders, providing equal market opportunities.</a:t>
            </a: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Overall, to achieve long-term success, the company should focus on diversification, targeted marketing, regional expansion, cost optimization, and data-driven decision-making to ensure consistent and sustainable growth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F8FDE0-F5A0-7213-17A4-7D0A625D9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38572"/>
            <a:ext cx="10363200" cy="728230"/>
          </a:xfrm>
        </p:spPr>
        <p:txBody>
          <a:bodyPr/>
          <a:lstStyle/>
          <a:p>
            <a:r>
              <a:rPr lang="en-IN" dirty="0"/>
              <a:t>Learning And 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78CBF-15AC-0AA3-6C4F-2FE10D4178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98864"/>
            <a:ext cx="10363826" cy="4492335"/>
          </a:xfrm>
        </p:spPr>
        <p:txBody>
          <a:bodyPr/>
          <a:lstStyle/>
          <a:p>
            <a:pPr marL="0" indent="0">
              <a:buNone/>
            </a:pPr>
            <a:r>
              <a:rPr lang="en-IN" b="1" cap="none" dirty="0"/>
              <a:t>Learnings</a:t>
            </a:r>
          </a:p>
          <a:p>
            <a:r>
              <a:rPr lang="en-IN" cap="none" dirty="0"/>
              <a:t>Ms excel power query, lookup, date fields.</a:t>
            </a:r>
          </a:p>
          <a:p>
            <a:r>
              <a:rPr lang="en-IN" cap="none" dirty="0"/>
              <a:t>In Tableau parameter, calculation fields, filters.</a:t>
            </a:r>
          </a:p>
          <a:p>
            <a:r>
              <a:rPr lang="en-IN" cap="none" dirty="0"/>
              <a:t>Power bi Dax functions ,  relationship, for visualization</a:t>
            </a:r>
          </a:p>
          <a:p>
            <a:r>
              <a:rPr lang="en-IN" cap="none" dirty="0"/>
              <a:t>SQL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aggregations, select command</a:t>
            </a:r>
          </a:p>
          <a:p>
            <a:pPr marL="0" indent="0">
              <a:buNone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Public having Limited Access enable to Clean Data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Power bi canvas setting Difficulty to do the Visualization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 file in Excel format to convert into Csv file for SQL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958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" title="This slide contains the following visuals: textbox ,cardVisual ,columnChart ,donutChart ,lineChart ,columnChart ,pieChart ,columnChart ,slicer ,slicer ,pageNavigator ,actionButton. Please refer to the notes on this slide for details">
            <a:hlinkClick r:id="rId2"/>
            <a:extLst>
              <a:ext uri="{FF2B5EF4-FFF2-40B4-BE49-F238E27FC236}">
                <a16:creationId xmlns:a16="http://schemas.microsoft.com/office/drawing/2014/main" id="{960D9309-B357-F4CB-C67A-950132133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0"/>
            <a:ext cx="12144375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5340384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567</TotalTime>
  <Words>1436</Words>
  <Application>Microsoft Office PowerPoint</Application>
  <PresentationFormat>Widescreen</PresentationFormat>
  <Paragraphs>157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Courier New</vt:lpstr>
      <vt:lpstr>Times New Roman</vt:lpstr>
      <vt:lpstr>Tw Cen MT</vt:lpstr>
      <vt:lpstr>Droplet</vt:lpstr>
      <vt:lpstr>Adventure Works</vt:lpstr>
      <vt:lpstr>Introduction – Adventure Works Cycles </vt:lpstr>
      <vt:lpstr>PowerPoint Presentation</vt:lpstr>
      <vt:lpstr>PowerPoint Presentation</vt:lpstr>
      <vt:lpstr>Data Overview</vt:lpstr>
      <vt:lpstr>Objective/ kpi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Insight And Recommendation</vt:lpstr>
      <vt:lpstr>PowerPoint Presentation</vt:lpstr>
      <vt:lpstr>Conclusion</vt:lpstr>
      <vt:lpstr>Learning And Challenges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banni govind</dc:creator>
  <cp:lastModifiedBy>derangula jeevan</cp:lastModifiedBy>
  <cp:revision>30</cp:revision>
  <cp:lastPrinted>2026-02-18T15:56:46Z</cp:lastPrinted>
  <dcterms:created xsi:type="dcterms:W3CDTF">2026-02-18T03:31:27Z</dcterms:created>
  <dcterms:modified xsi:type="dcterms:W3CDTF">2026-02-19T13:27:47Z</dcterms:modified>
</cp:coreProperties>
</file>